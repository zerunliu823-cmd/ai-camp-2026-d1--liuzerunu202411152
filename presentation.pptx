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</p:sldIdLst>
  <p:sldSz cx="18288000" cy="10287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开场先说明：这是一个经典二分类任务；随后沿着数据检查、基线模型、随机森林、结果分析的路线展开。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强调项目意义：从真实数据出发，完成从建模到评估的完整流程；同时强调可检查、可解释、可复现。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说明训练前关键数据准备：检查数据、处理缺失值、选择特征、划分训练集与测试集。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基线用于提供对照；随机森林用于尝试提升性能；重点不是模型多炫，而是是否真实提升。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不能只看准确率；重点看 Accuracy、Precision、Recall、F1-score，因为样本可能不均衡。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错误分析比单纯看结果更有说服力，这是项目严谨性的表现。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强调历史观察数据不是现实决策工具；模型只能说明关联，不是因果；项目强调可复现、可解释和诚实评估。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EB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矩形 25"/>
          <p:cNvSpPr>
            <a:spLocks noGrp="1"/>
          </p:cNvSpPr>
          <p:nvPr/>
        </p:nvSpPr>
        <p:spPr>
          <a:xfrm>
            <a:off x="190500" y="190500"/>
            <a:ext cx="17907000" cy="9906000"/>
          </a:xfrm>
          <a:prstGeom prst="rect">
            <a:avLst/>
          </a:prstGeom>
          <a:noFill/>
          <a:ln w="19050">
            <a:solidFill>
              <a:srgbClr val="1F2BE0">
                <a:alpha val="21961"/>
              </a:srgbClr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266700" y="266700"/>
            <a:ext cx="76200" cy="9753600"/>
          </a:xfrm>
          <a:prstGeom prst="rect">
            <a:avLst/>
          </a:prstGeom>
          <a:solidFill>
            <a:srgbClr val="1F2BE0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32385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64770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97155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129540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61925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0" y="2571750"/>
            <a:ext cx="18288000" cy="9525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0" y="5143500"/>
            <a:ext cx="18288000" cy="9525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0" y="7715250"/>
            <a:ext cx="18288000" cy="9525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914400" y="838200"/>
            <a:ext cx="533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125" b="1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TITANIC SURVIVAL PREDICTION</a:t>
            </a:r>
            <a:endParaRPr sz="1125" b="1">
              <a:solidFill>
                <a:srgbClr val="5560E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2954000" y="838200"/>
            <a:ext cx="4419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  <a:buNone/>
              <a:defRPr sz="1125" b="1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ML / BINARY CLASSIFICATION</a:t>
            </a:r>
            <a:endParaRPr sz="1125" b="1">
              <a:solidFill>
                <a:srgbClr val="5560E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914400" y="1428750"/>
            <a:ext cx="16459200" cy="1905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1524000" y="2362200"/>
            <a:ext cx="11811000" cy="3714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5850" b="1">
                <a:solidFill>
                  <a:srgbClr val="1F2BE0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5850" b="1">
                <a:solidFill>
                  <a:srgbClr val="1F2BE0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Titanic Survival</a:t>
            </a:r>
            <a:endParaRPr sz="5850" b="1">
              <a:solidFill>
                <a:srgbClr val="1F2BE0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  <a:p>
            <a:pPr algn="l">
              <a:lnSpc>
                <a:spcPct val="104000"/>
              </a:lnSpc>
              <a:buNone/>
              <a:defRPr sz="5850" b="1">
                <a:solidFill>
                  <a:srgbClr val="1F2BE0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5850" b="1">
                <a:solidFill>
                  <a:srgbClr val="1F2BE0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Prediction</a:t>
            </a:r>
            <a:endParaRPr sz="5850" b="1">
              <a:solidFill>
                <a:srgbClr val="1F2BE0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  <a:p>
            <a:pPr algn="l">
              <a:lnSpc>
                <a:spcPct val="104000"/>
              </a:lnSpc>
              <a:buNone/>
              <a:defRPr sz="5850" b="1">
                <a:solidFill>
                  <a:srgbClr val="1F2BE0"/>
                </a:solidFill>
                <a:latin typeface="Georgia" panose="02040502050405020303"/>
                <a:ea typeface="Georgia" panose="02040502050405020303"/>
                <a:cs typeface="Georgia" panose="02040502050405020303"/>
              </a:defRPr>
            </a:pPr>
            <a:r>
              <a:rPr sz="5850" b="1">
                <a:solidFill>
                  <a:srgbClr val="1F2BE0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with Machine Learning</a:t>
            </a:r>
            <a:endParaRPr sz="5850" b="1">
              <a:solidFill>
                <a:srgbClr val="1F2BE0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1600200" y="6534150"/>
            <a:ext cx="1047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250" b="0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2250" b="0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基于真实数据集的二分类预测</a:t>
            </a:r>
            <a:endParaRPr sz="2250" b="0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600200" y="7219950"/>
            <a:ext cx="10477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50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50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数据检查 → 基线模型 → 随机森林 → 结果分析</a:t>
            </a:r>
            <a:endParaRPr sz="1500" b="0">
              <a:solidFill>
                <a:srgbClr val="5560E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1600200" y="8001000"/>
            <a:ext cx="6667500" cy="1352550"/>
          </a:xfrm>
          <a:prstGeom prst="rect">
            <a:avLst/>
          </a:prstGeom>
          <a:solidFill>
            <a:srgbClr val="E6E0CE"/>
          </a:solidFill>
          <a:ln w="9525">
            <a:solidFill>
              <a:srgbClr val="1F2BE0">
                <a:alpha val="21961"/>
              </a:srgbClr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1905000" y="8210550"/>
            <a:ext cx="60960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4000"/>
              </a:lnSpc>
              <a:buNone/>
              <a:defRPr sz="1350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350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# Title block not actual code, this is just a conceptual example</a:t>
            </a:r>
            <a:endParaRPr sz="1350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34000"/>
              </a:lnSpc>
              <a:buNone/>
              <a:defRPr sz="1350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350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project_name = "Titanic Survival Prediction"</a:t>
            </a:r>
            <a:endParaRPr sz="1350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34000"/>
              </a:lnSpc>
              <a:buNone/>
              <a:defRPr sz="1350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350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task_type = "Binary Classification"</a:t>
            </a:r>
            <a:endParaRPr sz="1350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4439900" y="2362200"/>
            <a:ext cx="2933700" cy="4953000"/>
          </a:xfrm>
          <a:prstGeom prst="rect">
            <a:avLst/>
          </a:prstGeom>
          <a:solidFill>
            <a:srgbClr val="1F2BE0"/>
          </a:solidFill>
          <a:ln w="0">
            <a:noFill/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14839950" y="2362200"/>
            <a:ext cx="2152650" cy="1676400"/>
          </a:xfrm>
          <a:prstGeom prst="rect">
            <a:avLst/>
          </a:prstGeom>
          <a:pattFill prst="smGrid">
            <a:fgClr>
              <a:srgbClr val="1F2BE0"/>
            </a:fgClr>
            <a:bgClr>
              <a:srgbClr val="F0EBDE"/>
            </a:bgClr>
          </a:pattFill>
          <a:ln w="0">
            <a:noFill/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15259050" y="4038600"/>
            <a:ext cx="1733550" cy="1352550"/>
          </a:xfrm>
          <a:prstGeom prst="rect">
            <a:avLst/>
          </a:prstGeom>
          <a:pattFill prst="smGrid">
            <a:fgClr>
              <a:srgbClr val="1F2BE0"/>
            </a:fgClr>
            <a:bgClr>
              <a:srgbClr val="F0EBDE"/>
            </a:bgClr>
          </a:pattFill>
          <a:ln w="0">
            <a:noFill/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15621000" y="5391150"/>
            <a:ext cx="1371600" cy="1104900"/>
          </a:xfrm>
          <a:prstGeom prst="rect">
            <a:avLst/>
          </a:prstGeom>
          <a:pattFill prst="smGrid">
            <a:fgClr>
              <a:srgbClr val="1F2BE0"/>
            </a:fgClr>
            <a:bgClr>
              <a:srgbClr val="F0EBDE"/>
            </a:bgClr>
          </a:pattFill>
          <a:ln w="0">
            <a:noFill/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14706600" y="6686550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500" b="1">
                <a:solidFill>
                  <a:srgbClr val="F0EBD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500" b="1">
                <a:solidFill>
                  <a:srgbClr val="F0EBD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BINARY</a:t>
            </a:r>
            <a:endParaRPr sz="1500" b="1">
              <a:solidFill>
                <a:srgbClr val="F0EBD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30000"/>
              </a:lnSpc>
              <a:buNone/>
              <a:defRPr sz="1500" b="1">
                <a:solidFill>
                  <a:srgbClr val="F0EBD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500" b="1">
                <a:solidFill>
                  <a:srgbClr val="F0EBD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CLASSIFICATION</a:t>
            </a:r>
            <a:endParaRPr sz="1500" b="1">
              <a:solidFill>
                <a:srgbClr val="F0EBD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914400" y="9734550"/>
            <a:ext cx="304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TITANIC / ML</a:t>
            </a:r>
            <a:endParaRPr sz="1050" b="0">
              <a:solidFill>
                <a:srgbClr val="5560E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15811500" y="9734550"/>
            <a:ext cx="1562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01 / 07</a:t>
            </a:r>
            <a:endParaRPr sz="1050" b="0">
              <a:solidFill>
                <a:srgbClr val="5560E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EB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" name="矩形 39"/>
          <p:cNvSpPr>
            <a:spLocks noGrp="1"/>
          </p:cNvSpPr>
          <p:nvPr/>
        </p:nvSpPr>
        <p:spPr>
          <a:xfrm>
            <a:off x="190500" y="190500"/>
            <a:ext cx="17907000" cy="9906000"/>
          </a:xfrm>
          <a:prstGeom prst="rect">
            <a:avLst/>
          </a:prstGeom>
          <a:noFill/>
          <a:ln w="19050">
            <a:solidFill>
              <a:srgbClr val="1F2BE0">
                <a:alpha val="21961"/>
              </a:srgbClr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266700" y="266700"/>
            <a:ext cx="76200" cy="9753600"/>
          </a:xfrm>
          <a:prstGeom prst="rect">
            <a:avLst/>
          </a:prstGeom>
          <a:solidFill>
            <a:srgbClr val="1F2BE0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32385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64770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97155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129540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61925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0" y="2571750"/>
            <a:ext cx="18288000" cy="9525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0" y="5143500"/>
            <a:ext cx="18288000" cy="9525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0" y="7715250"/>
            <a:ext cx="18288000" cy="9525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914400" y="723900"/>
            <a:ext cx="9144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3900" b="1">
                <a:solidFill>
                  <a:srgbClr val="1F2BE0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3900" b="1">
                <a:solidFill>
                  <a:srgbClr val="1F2BE0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项目背景</a:t>
            </a:r>
            <a:endParaRPr sz="3900" b="1">
              <a:solidFill>
                <a:srgbClr val="1F2BE0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3716000" y="990600"/>
            <a:ext cx="3657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  <a:buNone/>
              <a:defRPr sz="120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PROJECT BACKGROUND / 02</a:t>
            </a:r>
            <a:endParaRPr sz="1200" b="0">
              <a:solidFill>
                <a:srgbClr val="5560E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914400" y="1752600"/>
            <a:ext cx="16459200" cy="28575"/>
          </a:xfrm>
          <a:prstGeom prst="rect">
            <a:avLst/>
          </a:prstGeom>
          <a:solidFill>
            <a:srgbClr val="1F2BE0"/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914400" y="22669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01</a:t>
            </a:r>
            <a:endParaRPr sz="157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1790700" y="2171700"/>
            <a:ext cx="8001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经典二分类任务</a:t>
            </a:r>
            <a:endParaRPr sz="2025" b="1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790700" y="2686050"/>
            <a:ext cx="8001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2000"/>
              </a:lnSpc>
              <a:buNone/>
              <a:def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目标是根据乘客特征预测其是否生还。</a:t>
            </a:r>
            <a:endParaRPr sz="1425" b="0">
              <a:solidFill>
                <a:srgbClr val="5A628F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914400" y="3314700"/>
            <a:ext cx="8991600" cy="1905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914400" y="35623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02</a:t>
            </a:r>
            <a:endParaRPr sz="157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790700" y="3467100"/>
            <a:ext cx="8001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核心预测目标</a:t>
            </a:r>
            <a:endParaRPr sz="2025" b="1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790700" y="3981450"/>
            <a:ext cx="8001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2000"/>
              </a:lnSpc>
              <a:buNone/>
              <a:def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每个乘客对应一个二值标签：生还或不生还。</a:t>
            </a:r>
            <a:endParaRPr sz="1425" b="0">
              <a:solidFill>
                <a:srgbClr val="5A628F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914400" y="4610100"/>
            <a:ext cx="8991600" cy="1905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914400" y="48577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03</a:t>
            </a:r>
            <a:endParaRPr sz="157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1790700" y="4762500"/>
            <a:ext cx="8001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可用特征</a:t>
            </a:r>
            <a:endParaRPr sz="2025" b="1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1790700" y="5276850"/>
            <a:ext cx="8001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2000"/>
              </a:lnSpc>
              <a:buNone/>
              <a:def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年龄、性别、舱位、票价、家属信息等。</a:t>
            </a:r>
            <a:endParaRPr sz="1425" b="0">
              <a:solidFill>
                <a:srgbClr val="5A628F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914400" y="5905500"/>
            <a:ext cx="8991600" cy="1905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914400" y="61531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04</a:t>
            </a:r>
            <a:endParaRPr sz="157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1790700" y="6057900"/>
            <a:ext cx="8001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入门项目价值</a:t>
            </a:r>
            <a:endParaRPr sz="2025" b="1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1790700" y="6572250"/>
            <a:ext cx="8001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2000"/>
              </a:lnSpc>
              <a:buNone/>
              <a:def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从真实数据出发，跑通从建模到评估的完整流程。</a:t>
            </a:r>
            <a:endParaRPr sz="1425" b="0">
              <a:solidFill>
                <a:srgbClr val="5A628F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914400" y="7200900"/>
            <a:ext cx="8991600" cy="1905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914400" y="7448550"/>
            <a:ext cx="8991600" cy="1123950"/>
          </a:xfrm>
          <a:prstGeom prst="rect">
            <a:avLst/>
          </a:prstGeom>
          <a:solidFill>
            <a:srgbClr val="E6E0CE"/>
          </a:solidFill>
          <a:ln w="9525">
            <a:solidFill>
              <a:srgbClr val="1F2BE0">
                <a:alpha val="21961"/>
              </a:srgbClr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1181100" y="762000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12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讲法</a:t>
            </a:r>
            <a:endParaRPr sz="112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1181100" y="7962900"/>
            <a:ext cx="84582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425" b="0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425" b="0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强调「可检查、可解释、可复现」的机器学习项目标准。</a:t>
            </a:r>
            <a:endParaRPr sz="1425" b="0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10287000" y="2133600"/>
            <a:ext cx="7086600" cy="7124700"/>
          </a:xfrm>
          <a:prstGeom prst="rect">
            <a:avLst/>
          </a:prstGeom>
          <a:solidFill>
            <a:srgbClr val="E6E0CE"/>
          </a:solidFill>
          <a:ln w="9525">
            <a:solidFill>
              <a:srgbClr val="1F2BE0">
                <a:alpha val="21961"/>
              </a:srgbClr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10591800" y="2343150"/>
            <a:ext cx="419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200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data/raw/train.csv</a:t>
            </a:r>
            <a:endParaRPr sz="1200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15163800" y="23622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DATA CHECK</a:t>
            </a:r>
            <a:endParaRPr sz="1050" b="0">
              <a:solidFill>
                <a:srgbClr val="5560E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10591800" y="2800350"/>
            <a:ext cx="6477000" cy="19050"/>
          </a:xfrm>
          <a:prstGeom prst="rect">
            <a:avLst/>
          </a:prstGeom>
          <a:solidFill>
            <a:srgbClr val="1F2BE0"/>
          </a:solidFill>
          <a:ln w="0">
            <a:noFill/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10591800" y="3048000"/>
            <a:ext cx="6477000" cy="5943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import pandas as pd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425"/>
          </a:p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df = pd.read_csv("data/raw/train.csv")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print(df.head())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print(df.columns)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914400" y="9734550"/>
            <a:ext cx="304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TITANIC / ML</a:t>
            </a:r>
            <a:endParaRPr sz="1050" b="0">
              <a:solidFill>
                <a:srgbClr val="5560E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15811500" y="9734550"/>
            <a:ext cx="1562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02 / 07</a:t>
            </a:r>
            <a:endParaRPr sz="1050" b="0">
              <a:solidFill>
                <a:srgbClr val="5560E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EB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" name="矩形 39"/>
          <p:cNvSpPr>
            <a:spLocks noGrp="1"/>
          </p:cNvSpPr>
          <p:nvPr/>
        </p:nvSpPr>
        <p:spPr>
          <a:xfrm>
            <a:off x="190500" y="190500"/>
            <a:ext cx="17907000" cy="9906000"/>
          </a:xfrm>
          <a:prstGeom prst="rect">
            <a:avLst/>
          </a:prstGeom>
          <a:noFill/>
          <a:ln w="19050">
            <a:solidFill>
              <a:srgbClr val="1F2BE0">
                <a:alpha val="21961"/>
              </a:srgbClr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266700" y="266700"/>
            <a:ext cx="76200" cy="9753600"/>
          </a:xfrm>
          <a:prstGeom prst="rect">
            <a:avLst/>
          </a:prstGeom>
          <a:solidFill>
            <a:srgbClr val="1F2BE0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32385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64770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97155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129540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61925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0" y="2571750"/>
            <a:ext cx="18288000" cy="9525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0" y="5143500"/>
            <a:ext cx="18288000" cy="9525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0" y="7715250"/>
            <a:ext cx="18288000" cy="9525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914400" y="723900"/>
            <a:ext cx="9144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3900" b="1">
                <a:solidFill>
                  <a:srgbClr val="1F2BE0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3900" b="1">
                <a:solidFill>
                  <a:srgbClr val="1F2BE0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数据流程</a:t>
            </a:r>
            <a:endParaRPr sz="3900" b="1">
              <a:solidFill>
                <a:srgbClr val="1F2BE0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3716000" y="990600"/>
            <a:ext cx="3657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  <a:buNone/>
              <a:defRPr sz="120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DATA PIPELINE / 03</a:t>
            </a:r>
            <a:endParaRPr sz="1200" b="0">
              <a:solidFill>
                <a:srgbClr val="5560E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914400" y="1752600"/>
            <a:ext cx="16459200" cy="28575"/>
          </a:xfrm>
          <a:prstGeom prst="rect">
            <a:avLst/>
          </a:prstGeom>
          <a:solidFill>
            <a:srgbClr val="1F2BE0"/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914400" y="22669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01</a:t>
            </a:r>
            <a:endParaRPr sz="157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1790700" y="2171700"/>
            <a:ext cx="8001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检查数据</a:t>
            </a:r>
            <a:endParaRPr sz="2025" b="1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790700" y="2686050"/>
            <a:ext cx="8001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2000"/>
              </a:lnSpc>
              <a:buNone/>
              <a:def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确认数据是否真实、路径是否正确。</a:t>
            </a:r>
            <a:endParaRPr sz="1425" b="0">
              <a:solidFill>
                <a:srgbClr val="5A628F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914400" y="3314700"/>
            <a:ext cx="8991600" cy="1905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914400" y="35623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02</a:t>
            </a:r>
            <a:endParaRPr sz="157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790700" y="3467100"/>
            <a:ext cx="8001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处理缺失值</a:t>
            </a:r>
            <a:endParaRPr sz="2025" b="1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790700" y="3981450"/>
            <a:ext cx="8001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2000"/>
              </a:lnSpc>
              <a:buNone/>
              <a:def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对不完整样本进行填补、删除或合理编码。</a:t>
            </a:r>
            <a:endParaRPr sz="1425" b="0">
              <a:solidFill>
                <a:srgbClr val="5A628F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914400" y="4610100"/>
            <a:ext cx="8991600" cy="1905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914400" y="48577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03</a:t>
            </a:r>
            <a:endParaRPr sz="157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1790700" y="4762500"/>
            <a:ext cx="8001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选择特征</a:t>
            </a:r>
            <a:endParaRPr sz="2025" b="1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1790700" y="5276850"/>
            <a:ext cx="8001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2000"/>
              </a:lnSpc>
              <a:buNone/>
              <a:def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保留与预测目标相关的字段，构建特征矩阵。</a:t>
            </a:r>
            <a:endParaRPr sz="1425" b="0">
              <a:solidFill>
                <a:srgbClr val="5A628F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914400" y="5905500"/>
            <a:ext cx="8991600" cy="1905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914400" y="61531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04</a:t>
            </a:r>
            <a:endParaRPr sz="157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1790700" y="6057900"/>
            <a:ext cx="8001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训练前准备</a:t>
            </a:r>
            <a:endParaRPr sz="2025" b="1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1790700" y="6572250"/>
            <a:ext cx="8001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2000"/>
              </a:lnSpc>
              <a:buNone/>
              <a:def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划分训练集与测试集，保持类别比例一致。</a:t>
            </a:r>
            <a:endParaRPr sz="1425" b="0">
              <a:solidFill>
                <a:srgbClr val="5A628F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914400" y="7200900"/>
            <a:ext cx="8991600" cy="1905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914400" y="7448550"/>
            <a:ext cx="8991600" cy="1123950"/>
          </a:xfrm>
          <a:prstGeom prst="rect">
            <a:avLst/>
          </a:prstGeom>
          <a:solidFill>
            <a:srgbClr val="E6E0CE"/>
          </a:solidFill>
          <a:ln w="9525">
            <a:solidFill>
              <a:srgbClr val="1F2BE0">
                <a:alpha val="21961"/>
              </a:srgbClr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1181100" y="762000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12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备注</a:t>
            </a:r>
            <a:endParaRPr sz="112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1181100" y="7962900"/>
            <a:ext cx="84582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425" b="0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425" b="0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用于说明训练前的关键数据准备</a:t>
            </a:r>
            <a:endParaRPr sz="1425" b="0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10287000" y="2133600"/>
            <a:ext cx="7086600" cy="7124700"/>
          </a:xfrm>
          <a:prstGeom prst="rect">
            <a:avLst/>
          </a:prstGeom>
          <a:solidFill>
            <a:srgbClr val="E6E0CE"/>
          </a:solidFill>
          <a:ln w="9525">
            <a:solidFill>
              <a:srgbClr val="1F2BE0">
                <a:alpha val="21961"/>
              </a:srgbClr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10591800" y="2343150"/>
            <a:ext cx="419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200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train_test_split.py</a:t>
            </a:r>
            <a:endParaRPr sz="1200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15163800" y="23622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PREPARE</a:t>
            </a:r>
            <a:endParaRPr sz="1050" b="0">
              <a:solidFill>
                <a:srgbClr val="5560E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10591800" y="2800350"/>
            <a:ext cx="6477000" cy="19050"/>
          </a:xfrm>
          <a:prstGeom prst="rect">
            <a:avLst/>
          </a:prstGeom>
          <a:solidFill>
            <a:srgbClr val="1F2BE0"/>
          </a:solidFill>
          <a:ln w="0">
            <a:noFill/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10591800" y="3048000"/>
            <a:ext cx="6477000" cy="5943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from sklearn.model_selection import train_test_split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425"/>
          </a:p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X = df[["Pclass", "Sex", "Age", "Fare", "SibSp", "Parch"]]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y = df["Survived"]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425"/>
          </a:p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X_train, X_test, y_train, y_test = train_test_split(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X, y, test_size=0.2, random_state=42, stratify=y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914400" y="9734550"/>
            <a:ext cx="304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TITANIC / ML</a:t>
            </a:r>
            <a:endParaRPr sz="1050" b="0">
              <a:solidFill>
                <a:srgbClr val="5560E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15811500" y="9734550"/>
            <a:ext cx="1562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03 / 07</a:t>
            </a:r>
            <a:endParaRPr sz="1050" b="0">
              <a:solidFill>
                <a:srgbClr val="5560E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EB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" name="矩形 39"/>
          <p:cNvSpPr>
            <a:spLocks noGrp="1"/>
          </p:cNvSpPr>
          <p:nvPr/>
        </p:nvSpPr>
        <p:spPr>
          <a:xfrm>
            <a:off x="190500" y="190500"/>
            <a:ext cx="17907000" cy="9906000"/>
          </a:xfrm>
          <a:prstGeom prst="rect">
            <a:avLst/>
          </a:prstGeom>
          <a:noFill/>
          <a:ln w="19050">
            <a:solidFill>
              <a:srgbClr val="1F2BE0">
                <a:alpha val="21961"/>
              </a:srgbClr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266700" y="266700"/>
            <a:ext cx="76200" cy="9753600"/>
          </a:xfrm>
          <a:prstGeom prst="rect">
            <a:avLst/>
          </a:prstGeom>
          <a:solidFill>
            <a:srgbClr val="1F2BE0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32385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64770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97155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129540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61925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0" y="2571750"/>
            <a:ext cx="18288000" cy="9525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0" y="5143500"/>
            <a:ext cx="18288000" cy="9525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0" y="7715250"/>
            <a:ext cx="18288000" cy="9525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914400" y="723900"/>
            <a:ext cx="9144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3900" b="1">
                <a:solidFill>
                  <a:srgbClr val="1F2BE0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3900" b="1">
                <a:solidFill>
                  <a:srgbClr val="1F2BE0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方法设计</a:t>
            </a:r>
            <a:endParaRPr sz="3900" b="1">
              <a:solidFill>
                <a:srgbClr val="1F2BE0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3716000" y="990600"/>
            <a:ext cx="3657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  <a:buNone/>
              <a:defRPr sz="120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METHOD / 04</a:t>
            </a:r>
            <a:endParaRPr sz="1200" b="0">
              <a:solidFill>
                <a:srgbClr val="5560E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914400" y="1752600"/>
            <a:ext cx="16459200" cy="28575"/>
          </a:xfrm>
          <a:prstGeom prst="rect">
            <a:avLst/>
          </a:prstGeom>
          <a:solidFill>
            <a:srgbClr val="1F2BE0"/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914400" y="22669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01</a:t>
            </a:r>
            <a:endParaRPr sz="157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1790700" y="2171700"/>
            <a:ext cx="8001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第一层：简单 baseline</a:t>
            </a:r>
            <a:endParaRPr sz="2025" b="1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790700" y="2686050"/>
            <a:ext cx="8001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2000"/>
              </a:lnSpc>
              <a:buNone/>
              <a:def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先用最直观的规则或简单模型建立对照。</a:t>
            </a:r>
            <a:endParaRPr sz="1425" b="0">
              <a:solidFill>
                <a:srgbClr val="5A628F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914400" y="3314700"/>
            <a:ext cx="8991600" cy="1905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914400" y="35623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02</a:t>
            </a:r>
            <a:endParaRPr sz="157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790700" y="3467100"/>
            <a:ext cx="8001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第二层：随机森林</a:t>
            </a:r>
            <a:endParaRPr sz="2025" b="1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790700" y="3981450"/>
            <a:ext cx="8001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2000"/>
              </a:lnSpc>
              <a:buNone/>
              <a:def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使用 RandomForestClassifier 尝试提升性能。</a:t>
            </a:r>
            <a:endParaRPr sz="1425" b="0">
              <a:solidFill>
                <a:srgbClr val="5A628F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914400" y="4610100"/>
            <a:ext cx="8991600" cy="1905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914400" y="48577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03</a:t>
            </a:r>
            <a:endParaRPr sz="157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1790700" y="4762500"/>
            <a:ext cx="8001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固定随机种子</a:t>
            </a:r>
            <a:endParaRPr sz="2025" b="1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1790700" y="5276850"/>
            <a:ext cx="8001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2000"/>
              </a:lnSpc>
              <a:buNone/>
              <a:def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random_state=42 保证结果可复现。</a:t>
            </a:r>
            <a:endParaRPr sz="1425" b="0">
              <a:solidFill>
                <a:srgbClr val="5A628F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914400" y="5905500"/>
            <a:ext cx="8991600" cy="1905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914400" y="61531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04</a:t>
            </a:r>
            <a:endParaRPr sz="157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1790700" y="6057900"/>
            <a:ext cx="8001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对比效果</a:t>
            </a:r>
            <a:endParaRPr sz="2025" b="1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1790700" y="6572250"/>
            <a:ext cx="8001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2000"/>
              </a:lnSpc>
              <a:buNone/>
              <a:def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关注模型是否带来真实、稳定的提升。</a:t>
            </a:r>
            <a:endParaRPr sz="1425" b="0">
              <a:solidFill>
                <a:srgbClr val="5A628F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914400" y="7200900"/>
            <a:ext cx="8991600" cy="1905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914400" y="7448550"/>
            <a:ext cx="8991600" cy="1123950"/>
          </a:xfrm>
          <a:prstGeom prst="rect">
            <a:avLst/>
          </a:prstGeom>
          <a:solidFill>
            <a:srgbClr val="E6E0CE"/>
          </a:solidFill>
          <a:ln w="9525">
            <a:solidFill>
              <a:srgbClr val="1F2BE0">
                <a:alpha val="21961"/>
              </a:srgbClr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1181100" y="762000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12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讲法</a:t>
            </a:r>
            <a:endParaRPr sz="112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1181100" y="7962900"/>
            <a:ext cx="84582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425" b="0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425" b="0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基线用于提供对照；重点不是模型多炫，而是是否真实提升。</a:t>
            </a:r>
            <a:endParaRPr sz="1425" b="0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10287000" y="2133600"/>
            <a:ext cx="7086600" cy="7124700"/>
          </a:xfrm>
          <a:prstGeom prst="rect">
            <a:avLst/>
          </a:prstGeom>
          <a:solidFill>
            <a:srgbClr val="E6E0CE"/>
          </a:solidFill>
          <a:ln w="9525">
            <a:solidFill>
              <a:srgbClr val="1F2BE0">
                <a:alpha val="21961"/>
              </a:srgbClr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10591800" y="2343150"/>
            <a:ext cx="419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200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random_forest.py</a:t>
            </a:r>
            <a:endParaRPr sz="1200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15163800" y="23622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MODEL</a:t>
            </a:r>
            <a:endParaRPr sz="1050" b="0">
              <a:solidFill>
                <a:srgbClr val="5560E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10591800" y="2800350"/>
            <a:ext cx="6477000" cy="19050"/>
          </a:xfrm>
          <a:prstGeom prst="rect">
            <a:avLst/>
          </a:prstGeom>
          <a:solidFill>
            <a:srgbClr val="1F2BE0"/>
          </a:solidFill>
          <a:ln w="0">
            <a:noFill/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10591800" y="3048000"/>
            <a:ext cx="6477000" cy="5943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from sklearn.ensemble import RandomForestClassifier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from sklearn.metrics import accuracy_score, classification_report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425"/>
          </a:p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model = RandomForestClassifier(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n_estimators=200,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random_state=42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)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425"/>
          </a:p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model.fit(X_train, y_train)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pred = model.predict(X_test)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425"/>
          </a:p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print("Accuracy:", accuracy_score(y_test, pred))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print(classification_report(y_test, pred))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914400" y="9734550"/>
            <a:ext cx="304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TITANIC / ML</a:t>
            </a:r>
            <a:endParaRPr sz="1050" b="0">
              <a:solidFill>
                <a:srgbClr val="5560E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15811500" y="9734550"/>
            <a:ext cx="1562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04 / 07</a:t>
            </a:r>
            <a:endParaRPr sz="1050" b="0">
              <a:solidFill>
                <a:srgbClr val="5560E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EB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4" name="矩形 43"/>
          <p:cNvSpPr>
            <a:spLocks noGrp="1"/>
          </p:cNvSpPr>
          <p:nvPr/>
        </p:nvSpPr>
        <p:spPr>
          <a:xfrm>
            <a:off x="190500" y="190500"/>
            <a:ext cx="17907000" cy="9906000"/>
          </a:xfrm>
          <a:prstGeom prst="rect">
            <a:avLst/>
          </a:prstGeom>
          <a:noFill/>
          <a:ln w="19050">
            <a:solidFill>
              <a:srgbClr val="1F2BE0">
                <a:alpha val="21961"/>
              </a:srgbClr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266700" y="266700"/>
            <a:ext cx="76200" cy="9753600"/>
          </a:xfrm>
          <a:prstGeom prst="rect">
            <a:avLst/>
          </a:prstGeom>
          <a:solidFill>
            <a:srgbClr val="1F2BE0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32385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64770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97155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129540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61925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0" y="2571750"/>
            <a:ext cx="18288000" cy="9525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0" y="5143500"/>
            <a:ext cx="18288000" cy="9525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0" y="7715250"/>
            <a:ext cx="18288000" cy="9525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914400" y="723900"/>
            <a:ext cx="9144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3900" b="1">
                <a:solidFill>
                  <a:srgbClr val="1F2BE0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3900" b="1">
                <a:solidFill>
                  <a:srgbClr val="1F2BE0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评估指标</a:t>
            </a:r>
            <a:endParaRPr sz="3900" b="1">
              <a:solidFill>
                <a:srgbClr val="1F2BE0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3716000" y="990600"/>
            <a:ext cx="3657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  <a:buNone/>
              <a:defRPr sz="120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EVALUATION / 05</a:t>
            </a:r>
            <a:endParaRPr sz="1200" b="0">
              <a:solidFill>
                <a:srgbClr val="5560E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914400" y="1752600"/>
            <a:ext cx="16459200" cy="28575"/>
          </a:xfrm>
          <a:prstGeom prst="rect">
            <a:avLst/>
          </a:prstGeom>
          <a:solidFill>
            <a:srgbClr val="1F2BE0"/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914400" y="22669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01</a:t>
            </a:r>
            <a:endParaRPr sz="157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1790700" y="2171700"/>
            <a:ext cx="5715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Accuracy</a:t>
            </a:r>
            <a:endParaRPr sz="2025" b="1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7620000" y="2305050"/>
            <a:ext cx="20764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  <a:buNone/>
              <a:defRPr sz="1200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ACC</a:t>
            </a:r>
            <a:endParaRPr sz="1200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1790700" y="2686050"/>
            <a:ext cx="6000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2000"/>
              </a:lnSpc>
              <a:buNone/>
              <a:def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正确预测占比；类别均衡时直观，样本不均衡时可能误导。</a:t>
            </a:r>
            <a:endParaRPr sz="1425" b="0">
              <a:solidFill>
                <a:srgbClr val="5A628F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914400" y="3314700"/>
            <a:ext cx="8991600" cy="1905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914400" y="35623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02</a:t>
            </a:r>
            <a:endParaRPr sz="157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790700" y="3467100"/>
            <a:ext cx="5715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Precision</a:t>
            </a:r>
            <a:endParaRPr sz="2025" b="1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7620000" y="3600450"/>
            <a:ext cx="20764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  <a:buNone/>
              <a:defRPr sz="1200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PRE</a:t>
            </a:r>
            <a:endParaRPr sz="1200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1790700" y="3981450"/>
            <a:ext cx="6000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2000"/>
              </a:lnSpc>
              <a:buNone/>
              <a:def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预测为正的样本中，真正为正的比例。</a:t>
            </a:r>
            <a:endParaRPr sz="1425" b="0">
              <a:solidFill>
                <a:srgbClr val="5A628F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914400" y="4610100"/>
            <a:ext cx="8991600" cy="1905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914400" y="48577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03</a:t>
            </a:r>
            <a:endParaRPr sz="157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1790700" y="4762500"/>
            <a:ext cx="5715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Recall</a:t>
            </a:r>
            <a:endParaRPr sz="2025" b="1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7620000" y="4895850"/>
            <a:ext cx="20764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  <a:buNone/>
              <a:defRPr sz="1200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REC</a:t>
            </a:r>
            <a:endParaRPr sz="1200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1790700" y="5276850"/>
            <a:ext cx="6000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2000"/>
              </a:lnSpc>
              <a:buNone/>
              <a:def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实际为正的样本中，被模型正确找出的比例。</a:t>
            </a:r>
            <a:endParaRPr sz="1425" b="0">
              <a:solidFill>
                <a:srgbClr val="5A628F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914400" y="5905500"/>
            <a:ext cx="8991600" cy="1905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914400" y="61531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04</a:t>
            </a:r>
            <a:endParaRPr sz="157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1790700" y="6057900"/>
            <a:ext cx="5715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F1-score</a:t>
            </a:r>
            <a:endParaRPr sz="2025" b="1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7620000" y="6191250"/>
            <a:ext cx="20764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  <a:buNone/>
              <a:defRPr sz="1200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F1</a:t>
            </a:r>
            <a:endParaRPr sz="1200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1790700" y="6572250"/>
            <a:ext cx="6000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2000"/>
              </a:lnSpc>
              <a:buNone/>
              <a:def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Precision 与 Recall 的调和平均，兼顾两者。</a:t>
            </a:r>
            <a:endParaRPr sz="1425" b="0">
              <a:solidFill>
                <a:srgbClr val="5A628F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914400" y="7200900"/>
            <a:ext cx="8991600" cy="1905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914400" y="7448550"/>
            <a:ext cx="8991600" cy="1123950"/>
          </a:xfrm>
          <a:prstGeom prst="rect">
            <a:avLst/>
          </a:prstGeom>
          <a:solidFill>
            <a:srgbClr val="E6E0CE"/>
          </a:solidFill>
          <a:ln w="9525">
            <a:solidFill>
              <a:srgbClr val="1F2BE0">
                <a:alpha val="21961"/>
              </a:srgbClr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1181100" y="762000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12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结论</a:t>
            </a:r>
            <a:endParaRPr sz="112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1181100" y="7962900"/>
            <a:ext cx="84582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425" b="0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425" b="0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样本可能不均衡，因此不能只看准确率。</a:t>
            </a:r>
            <a:endParaRPr sz="1425" b="0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10287000" y="2133600"/>
            <a:ext cx="7086600" cy="7124700"/>
          </a:xfrm>
          <a:prstGeom prst="rect">
            <a:avLst/>
          </a:prstGeom>
          <a:solidFill>
            <a:srgbClr val="E6E0CE"/>
          </a:solidFill>
          <a:ln w="9525">
            <a:solidFill>
              <a:srgbClr val="1F2BE0">
                <a:alpha val="21961"/>
              </a:srgbClr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10591800" y="2343150"/>
            <a:ext cx="419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200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metrics.py</a:t>
            </a:r>
            <a:endParaRPr sz="1200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15163800" y="23622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EVALUATE</a:t>
            </a:r>
            <a:endParaRPr sz="1050" b="0">
              <a:solidFill>
                <a:srgbClr val="5560E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10591800" y="2800350"/>
            <a:ext cx="6477000" cy="19050"/>
          </a:xfrm>
          <a:prstGeom prst="rect">
            <a:avLst/>
          </a:prstGeom>
          <a:solidFill>
            <a:srgbClr val="1F2BE0"/>
          </a:solidFill>
          <a:ln w="0">
            <a:noFill/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10591800" y="3048000"/>
            <a:ext cx="6477000" cy="5943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from sklearn.metrics import precision_score, recall_score, f1_score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425"/>
          </a:p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precision = precision_score(y_test, pred)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recall = recall_score(y_test, pred)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f1 = f1_score(y_test, pred)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425"/>
          </a:p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print(f"Precision: {precision:.3f}")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print(f"Recall: {recall:.3f}")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print(f"F1: {f1:.3f}")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914400" y="9734550"/>
            <a:ext cx="304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TITANIC / ML</a:t>
            </a:r>
            <a:endParaRPr sz="1050" b="0">
              <a:solidFill>
                <a:srgbClr val="5560E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15811500" y="9734550"/>
            <a:ext cx="1562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05 / 07</a:t>
            </a:r>
            <a:endParaRPr sz="1050" b="0">
              <a:solidFill>
                <a:srgbClr val="5560E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EB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" name="矩形 39"/>
          <p:cNvSpPr>
            <a:spLocks noGrp="1"/>
          </p:cNvSpPr>
          <p:nvPr/>
        </p:nvSpPr>
        <p:spPr>
          <a:xfrm>
            <a:off x="190500" y="190500"/>
            <a:ext cx="17907000" cy="9906000"/>
          </a:xfrm>
          <a:prstGeom prst="rect">
            <a:avLst/>
          </a:prstGeom>
          <a:noFill/>
          <a:ln w="19050">
            <a:solidFill>
              <a:srgbClr val="1F2BE0">
                <a:alpha val="21961"/>
              </a:srgbClr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266700" y="266700"/>
            <a:ext cx="76200" cy="9753600"/>
          </a:xfrm>
          <a:prstGeom prst="rect">
            <a:avLst/>
          </a:prstGeom>
          <a:solidFill>
            <a:srgbClr val="1F2BE0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32385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64770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97155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129540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61925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0" y="2571750"/>
            <a:ext cx="18288000" cy="9525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0" y="5143500"/>
            <a:ext cx="18288000" cy="9525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0" y="7715250"/>
            <a:ext cx="18288000" cy="9525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914400" y="723900"/>
            <a:ext cx="9144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3900" b="1">
                <a:solidFill>
                  <a:srgbClr val="1F2BE0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3900" b="1">
                <a:solidFill>
                  <a:srgbClr val="1F2BE0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错误分析</a:t>
            </a:r>
            <a:endParaRPr sz="3900" b="1">
              <a:solidFill>
                <a:srgbClr val="1F2BE0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3716000" y="990600"/>
            <a:ext cx="3657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  <a:buNone/>
              <a:defRPr sz="120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ERROR ANALYSIS / 06</a:t>
            </a:r>
            <a:endParaRPr sz="1200" b="0">
              <a:solidFill>
                <a:srgbClr val="5560E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914400" y="1752600"/>
            <a:ext cx="16459200" cy="28575"/>
          </a:xfrm>
          <a:prstGeom prst="rect">
            <a:avLst/>
          </a:prstGeom>
          <a:solidFill>
            <a:srgbClr val="1F2BE0"/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914400" y="22669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01</a:t>
            </a:r>
            <a:endParaRPr sz="157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1790700" y="2171700"/>
            <a:ext cx="8001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找出错误样本</a:t>
            </a:r>
            <a:endParaRPr sz="2025" b="1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790700" y="2686050"/>
            <a:ext cx="8001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2000"/>
              </a:lnSpc>
              <a:buNone/>
              <a:def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观察模型在哪些样本上预测失败。</a:t>
            </a:r>
            <a:endParaRPr sz="1425" b="0">
              <a:solidFill>
                <a:srgbClr val="5A628F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914400" y="3314700"/>
            <a:ext cx="8991600" cy="1905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914400" y="35623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02</a:t>
            </a:r>
            <a:endParaRPr sz="157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790700" y="3467100"/>
            <a:ext cx="8001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常见错误模式</a:t>
            </a:r>
            <a:endParaRPr sz="2025" b="1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790700" y="3981450"/>
            <a:ext cx="8001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2000"/>
              </a:lnSpc>
              <a:buNone/>
              <a:def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例如年龄较大、票价异常、女性/男性误判。</a:t>
            </a:r>
            <a:endParaRPr sz="1425" b="0">
              <a:solidFill>
                <a:srgbClr val="5A628F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914400" y="4610100"/>
            <a:ext cx="8991600" cy="1905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914400" y="48577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03</a:t>
            </a:r>
            <a:endParaRPr sz="157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1790700" y="4762500"/>
            <a:ext cx="8001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分析为什么错</a:t>
            </a:r>
            <a:endParaRPr sz="2025" b="1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1790700" y="5276850"/>
            <a:ext cx="8001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2000"/>
              </a:lnSpc>
              <a:buNone/>
              <a:def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把错误样本还原到特征与数据上下文里解释。</a:t>
            </a:r>
            <a:endParaRPr sz="1425" b="0">
              <a:solidFill>
                <a:srgbClr val="5A628F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914400" y="5905500"/>
            <a:ext cx="8991600" cy="1905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914400" y="61531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04</a:t>
            </a:r>
            <a:endParaRPr sz="157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1790700" y="6057900"/>
            <a:ext cx="8001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认识近似判断</a:t>
            </a:r>
            <a:endParaRPr sz="2025" b="1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1790700" y="6572250"/>
            <a:ext cx="8001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2000"/>
              </a:lnSpc>
              <a:buNone/>
              <a:def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数据和特征的局限决定了模型只能做近似判断。</a:t>
            </a:r>
            <a:endParaRPr sz="1425" b="0">
              <a:solidFill>
                <a:srgbClr val="5A628F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914400" y="7200900"/>
            <a:ext cx="8991600" cy="1905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914400" y="7448550"/>
            <a:ext cx="8991600" cy="1123950"/>
          </a:xfrm>
          <a:prstGeom prst="rect">
            <a:avLst/>
          </a:prstGeom>
          <a:solidFill>
            <a:srgbClr val="E6E0CE"/>
          </a:solidFill>
          <a:ln w="9525">
            <a:solidFill>
              <a:srgbClr val="1F2BE0">
                <a:alpha val="21961"/>
              </a:srgbClr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1181100" y="762000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12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讲法</a:t>
            </a:r>
            <a:endParaRPr sz="112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1181100" y="7962900"/>
            <a:ext cx="84582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425" b="0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425" b="0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错误分析比单纯看结果更有说服力，这是项目「严谨性」的表现。</a:t>
            </a:r>
            <a:endParaRPr sz="1425" b="0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10287000" y="2133600"/>
            <a:ext cx="7086600" cy="7124700"/>
          </a:xfrm>
          <a:prstGeom prst="rect">
            <a:avLst/>
          </a:prstGeom>
          <a:solidFill>
            <a:srgbClr val="E6E0CE"/>
          </a:solidFill>
          <a:ln w="9525">
            <a:solidFill>
              <a:srgbClr val="1F2BE0">
                <a:alpha val="21961"/>
              </a:srgbClr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10591800" y="2343150"/>
            <a:ext cx="419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200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error_analysis.py</a:t>
            </a:r>
            <a:endParaRPr sz="1200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15163800" y="23622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ERRORS</a:t>
            </a:r>
            <a:endParaRPr sz="1050" b="0">
              <a:solidFill>
                <a:srgbClr val="5560E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10591800" y="2800350"/>
            <a:ext cx="6477000" cy="19050"/>
          </a:xfrm>
          <a:prstGeom prst="rect">
            <a:avLst/>
          </a:prstGeom>
          <a:solidFill>
            <a:srgbClr val="1F2BE0"/>
          </a:solidFill>
          <a:ln w="0">
            <a:noFill/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10591800" y="3048000"/>
            <a:ext cx="6477000" cy="5943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error_df = X_test.copy()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error_df["true"] = y_test.values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error_df["pred"] = pred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425"/>
          </a:p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errors = error_df[error_df["true"] != error_df["pred"]]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38000"/>
              </a:lnSpc>
              <a:buNone/>
              <a:def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425" b="0">
                <a:solidFill>
                  <a:srgbClr val="17204E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print(errors.head())</a:t>
            </a:r>
            <a:endParaRPr sz="1425" b="0">
              <a:solidFill>
                <a:srgbClr val="17204E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914400" y="9734550"/>
            <a:ext cx="304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TITANIC / ML</a:t>
            </a:r>
            <a:endParaRPr sz="1050" b="0">
              <a:solidFill>
                <a:srgbClr val="5560E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15811500" y="9734550"/>
            <a:ext cx="1562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06 / 07</a:t>
            </a:r>
            <a:endParaRPr sz="1050" b="0">
              <a:solidFill>
                <a:srgbClr val="5560E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EB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2" name="矩形 41"/>
          <p:cNvSpPr>
            <a:spLocks noGrp="1"/>
          </p:cNvSpPr>
          <p:nvPr/>
        </p:nvSpPr>
        <p:spPr>
          <a:xfrm>
            <a:off x="190500" y="190500"/>
            <a:ext cx="17907000" cy="9906000"/>
          </a:xfrm>
          <a:prstGeom prst="rect">
            <a:avLst/>
          </a:prstGeom>
          <a:noFill/>
          <a:ln w="19050">
            <a:solidFill>
              <a:srgbClr val="1F2BE0">
                <a:alpha val="21961"/>
              </a:srgbClr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266700" y="266700"/>
            <a:ext cx="76200" cy="9753600"/>
          </a:xfrm>
          <a:prstGeom prst="rect">
            <a:avLst/>
          </a:prstGeom>
          <a:solidFill>
            <a:srgbClr val="1F2BE0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32385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64770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97155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129540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6192500" y="0"/>
            <a:ext cx="9525" cy="1028700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0" y="2571750"/>
            <a:ext cx="18288000" cy="9525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0" y="5143500"/>
            <a:ext cx="18288000" cy="9525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0" y="7715250"/>
            <a:ext cx="18288000" cy="9525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914400" y="723900"/>
            <a:ext cx="9144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3900" b="1">
                <a:solidFill>
                  <a:srgbClr val="1F2BE0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3900" b="1">
                <a:solidFill>
                  <a:srgbClr val="1F2BE0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局限性与结论</a:t>
            </a:r>
            <a:endParaRPr sz="3900" b="1">
              <a:solidFill>
                <a:srgbClr val="1F2BE0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3716000" y="990600"/>
            <a:ext cx="3657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  <a:buNone/>
              <a:defRPr sz="120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LIMITS &amp; CONCLUSION / 07</a:t>
            </a:r>
            <a:endParaRPr sz="1200" b="0">
              <a:solidFill>
                <a:srgbClr val="5560E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914400" y="1752600"/>
            <a:ext cx="16459200" cy="28575"/>
          </a:xfrm>
          <a:prstGeom prst="rect">
            <a:avLst/>
          </a:prstGeom>
          <a:solidFill>
            <a:srgbClr val="1F2BE0"/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914400" y="22669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01</a:t>
            </a:r>
            <a:endParaRPr sz="157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1790700" y="2171700"/>
            <a:ext cx="8001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历史观察数据</a:t>
            </a:r>
            <a:endParaRPr sz="2025" b="1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790700" y="2686050"/>
            <a:ext cx="8001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2000"/>
              </a:lnSpc>
              <a:buNone/>
              <a:def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这是历史观察数据，不是现实决策工具。</a:t>
            </a:r>
            <a:endParaRPr sz="1425" b="0">
              <a:solidFill>
                <a:srgbClr val="5A628F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914400" y="3314700"/>
            <a:ext cx="8991600" cy="1905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914400" y="35623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02</a:t>
            </a:r>
            <a:endParaRPr sz="157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790700" y="3467100"/>
            <a:ext cx="8001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相关性不是因果</a:t>
            </a:r>
            <a:endParaRPr sz="2025" b="1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790700" y="3981450"/>
            <a:ext cx="8001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2000"/>
              </a:lnSpc>
              <a:buNone/>
              <a:def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不能把相关性当作因果解释。</a:t>
            </a:r>
            <a:endParaRPr sz="1425" b="0">
              <a:solidFill>
                <a:srgbClr val="5A628F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914400" y="4610100"/>
            <a:ext cx="8991600" cy="1905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914400" y="48577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03</a:t>
            </a:r>
            <a:endParaRPr sz="157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1790700" y="4762500"/>
            <a:ext cx="8001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预测不等于证明</a:t>
            </a:r>
            <a:endParaRPr sz="2025" b="1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1790700" y="5276850"/>
            <a:ext cx="8001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2000"/>
              </a:lnSpc>
              <a:buNone/>
              <a:def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模型能预测，但不能证明某特征「导致」生还。</a:t>
            </a:r>
            <a:endParaRPr sz="1425" b="0">
              <a:solidFill>
                <a:srgbClr val="5A628F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914400" y="5905500"/>
            <a:ext cx="8991600" cy="1905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914400" y="6153150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57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04</a:t>
            </a:r>
            <a:endParaRPr sz="157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1790700" y="6057900"/>
            <a:ext cx="8001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20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结论边界</a:t>
            </a:r>
            <a:endParaRPr sz="2025" b="1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1790700" y="6572250"/>
            <a:ext cx="8001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2000"/>
              </a:lnSpc>
              <a:buNone/>
              <a:def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425" b="0">
                <a:solidFill>
                  <a:srgbClr val="5A628F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数据的局限决定了结论的边界。</a:t>
            </a:r>
            <a:endParaRPr sz="1425" b="0">
              <a:solidFill>
                <a:srgbClr val="5A628F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914400" y="7200900"/>
            <a:ext cx="8991600" cy="19050"/>
          </a:xfrm>
          <a:prstGeom prst="rect">
            <a:avLst/>
          </a:prstGeom>
          <a:solidFill>
            <a:srgbClr val="1F2BE0">
              <a:alpha val="10196"/>
            </a:srgbClr>
          </a:solidFill>
          <a:ln w="0">
            <a:noFill/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914400" y="7448550"/>
            <a:ext cx="8991600" cy="1123950"/>
          </a:xfrm>
          <a:prstGeom prst="rect">
            <a:avLst/>
          </a:prstGeom>
          <a:solidFill>
            <a:srgbClr val="E6E0CE"/>
          </a:solidFill>
          <a:ln w="9525">
            <a:solidFill>
              <a:srgbClr val="1F2BE0">
                <a:alpha val="21961"/>
              </a:srgbClr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1181100" y="762000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12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讲法</a:t>
            </a:r>
            <a:endParaRPr sz="112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1181100" y="7962900"/>
            <a:ext cx="84582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  <a:defRPr sz="1425" b="0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425" b="0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数据是历史观察数据，模型只能说明关联；强调可复现、可解释和诚实评估。</a:t>
            </a:r>
            <a:endParaRPr sz="1425" b="0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10287000" y="2133600"/>
            <a:ext cx="7086600" cy="7124700"/>
          </a:xfrm>
          <a:prstGeom prst="rect">
            <a:avLst/>
          </a:prstGeom>
          <a:solidFill>
            <a:srgbClr val="E6E0CE"/>
          </a:solidFill>
          <a:ln w="9525">
            <a:solidFill>
              <a:srgbClr val="1F2BE0">
                <a:alpha val="21961"/>
              </a:srgbClr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10591800" y="2400300"/>
            <a:ext cx="381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12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1">
                <a:solidFill>
                  <a:srgbClr val="1F2BE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CONCLUSION TEMPLATE</a:t>
            </a:r>
            <a:endParaRPr sz="1125" b="1">
              <a:solidFill>
                <a:srgbClr val="1F2BE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10553700" y="2876550"/>
            <a:ext cx="1714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1250" b="1">
                <a:solidFill>
                  <a:srgbClr val="1F2BE0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1250" b="1">
                <a:solidFill>
                  <a:srgbClr val="1F2BE0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“</a:t>
            </a:r>
            <a:endParaRPr sz="11250" b="1">
              <a:solidFill>
                <a:srgbClr val="1F2BE0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10820400" y="4343400"/>
            <a:ext cx="6057900" cy="2857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8000"/>
              </a:lnSpc>
              <a:buNone/>
              <a:defRPr sz="23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2325" b="1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该模型能够在给定数据上进行有效预测，但其结果只能说明关联，不是因果。</a:t>
            </a:r>
            <a:endParaRPr sz="2325" b="1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10820400" y="7677150"/>
            <a:ext cx="6019800" cy="19050"/>
          </a:xfrm>
          <a:prstGeom prst="rect">
            <a:avLst/>
          </a:prstGeom>
          <a:solidFill>
            <a:srgbClr val="1F2BE0"/>
          </a:solidFill>
          <a:ln w="0">
            <a:noFill/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10820400" y="7962900"/>
            <a:ext cx="6019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500" b="0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defRPr>
            </a:pPr>
            <a:r>
              <a:rPr sz="1500" b="0">
                <a:solidFill>
                  <a:srgbClr val="182152"/>
                </a:solidFill>
                <a:latin typeface="Microsoft YaHei UI" panose="020B0503020204020204" charset="-122"/>
                <a:ea typeface="Microsoft YaHei UI" panose="020B0503020204020204" charset="-122"/>
                <a:cs typeface="Microsoft YaHei UI" panose="020B0503020204020204" charset="-122"/>
              </a:rPr>
              <a:t>项目强调可复现、可解释和诚实评估。</a:t>
            </a:r>
            <a:endParaRPr sz="1500" b="0">
              <a:solidFill>
                <a:srgbClr val="182152"/>
              </a:solidFill>
              <a:latin typeface="Microsoft YaHei UI" panose="020B0503020204020204" charset="-122"/>
              <a:ea typeface="Microsoft YaHei UI" panose="020B0503020204020204" charset="-122"/>
              <a:cs typeface="Microsoft YaHei UI" panose="020B0503020204020204" charset="-122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10820400" y="8496300"/>
            <a:ext cx="6019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  <a:buNone/>
              <a:defRPr sz="1200" b="1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1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END / 07</a:t>
            </a:r>
            <a:endParaRPr sz="1200" b="1">
              <a:solidFill>
                <a:srgbClr val="5560E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914400" y="9734550"/>
            <a:ext cx="304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  <a:def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TITANIC / ML</a:t>
            </a:r>
            <a:endParaRPr sz="1050" b="0">
              <a:solidFill>
                <a:srgbClr val="5560E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15811500" y="9734550"/>
            <a:ext cx="1562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5000"/>
              </a:lnSpc>
              <a:buNone/>
              <a:def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5560E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07 / 07</a:t>
            </a:r>
            <a:endParaRPr sz="1050" b="0">
              <a:solidFill>
                <a:srgbClr val="5560E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2682</Words>
  <Application>WPS 演示</Application>
  <PresentationFormat>Converted Presentation</PresentationFormat>
  <Paragraphs>323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7" baseType="lpstr">
      <vt:lpstr>Arial</vt:lpstr>
      <vt:lpstr>宋体</vt:lpstr>
      <vt:lpstr>Wingdings</vt:lpstr>
      <vt:lpstr>Consolas</vt:lpstr>
      <vt:lpstr>Georgia</vt:lpstr>
      <vt:lpstr>Microsoft YaHei UI</vt:lpstr>
      <vt:lpstr>微软雅黑</vt:lpstr>
      <vt:lpstr>Arial Unicode MS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程霖垚</cp:lastModifiedBy>
  <cp:revision>1</cp:revision>
  <dcterms:created xsi:type="dcterms:W3CDTF">2026-08-18T03:08:46Z</dcterms:created>
  <dcterms:modified xsi:type="dcterms:W3CDTF">2026-08-18T03:08:46Z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2C73331583A042DCA2D4B0A4D9AC904B_12</vt:lpwstr>
  </property>
  <property fmtid="{D5CDD505-2E9C-101B-9397-08002B2CF9AE}" pid="3" name="KSOProductBuildVer">
    <vt:lpwstr>2052-12.1.0.28043</vt:lpwstr>
  </property>
</Properties>
</file>