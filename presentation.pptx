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4" y="10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先说使用者和问题，不讲课程日名称代替问题。指出真实输入和产品边界。目标 30 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说明基线为何简单、候选只复杂哪一步，以及比较条件如何保持相同。目标 45 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只选择一条最能回答问题的证据。说出命令、指标含义和一个真实样本。目标 60 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用失败收尾，明确不能声称什么和下一项最小检查。不要说泛泛的“数据不够”。目标 45 秒。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HeroNumber"/>
          <p:cNvSpPr/>
          <p:nvPr/>
        </p:nvSpPr>
        <p:spPr>
          <a:xfrm>
            <a:off x="720000" y="1080000"/>
            <a:ext cx="1800000" cy="180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1" name="CoverTitle"/>
          <p:cNvSpPr txBox="1"/>
          <p:nvPr/>
        </p:nvSpPr>
        <p:spPr>
          <a:xfrm>
            <a:off x="2952000" y="1152000"/>
            <a:ext cx="8460000" cy="792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问题与使用者</a:t>
            </a:r>
          </a:p>
        </p:txBody>
      </p:sp>
      <p:sp>
        <p:nvSpPr>
          <p:cNvPr id="100002" name="CoverBody"/>
          <p:cNvSpPr txBox="1"/>
          <p:nvPr/>
        </p:nvSpPr>
        <p:spPr>
          <a:xfrm>
            <a:off x="2952000" y="2160000"/>
            <a:ext cx="7920000" cy="2138950"/>
          </a:xfrm>
          <a:prstGeom prst="rect">
            <a:avLst/>
          </a:prstGeom>
        </p:spPr>
        <p:txBody>
          <a:bodyPr lIns="43200" tIns="43200" rIns="43200" bIns="43200" anchor="ctr">
            <a:normAutofit fontScale="92500" lnSpcReduction="20000"/>
          </a:bodyPr>
          <a:lstStyle/>
          <a:p>
            <a:pPr lvl="0"/>
            <a:r>
              <a:rPr lang="zh-CN" altLang="zh-CN" sz="2400" dirty="0">
                <a:solidFill>
                  <a:srgbClr val="E7E6E6"/>
                </a:solidFill>
              </a:rPr>
              <a:t>使用者：博物馆教育团队 </a:t>
            </a:r>
            <a:endParaRPr lang="en-US" altLang="zh-CN" sz="2400" dirty="0">
              <a:solidFill>
                <a:srgbClr val="E7E6E6"/>
              </a:solidFill>
            </a:endParaRPr>
          </a:p>
          <a:p>
            <a:pPr lvl="0"/>
            <a:endParaRPr lang="zh-CN" altLang="zh-CN" sz="2400" dirty="0">
              <a:solidFill>
                <a:srgbClr val="E7E6E6"/>
              </a:solidFill>
            </a:endParaRPr>
          </a:p>
          <a:p>
            <a:pPr lvl="0"/>
            <a:r>
              <a:rPr lang="zh-CN" altLang="zh-CN" sz="2400" dirty="0">
                <a:solidFill>
                  <a:srgbClr val="E7E6E6"/>
                </a:solidFill>
              </a:rPr>
              <a:t>问题：比较多数类基线和随机森林，并解释留出记录中的错误 </a:t>
            </a:r>
          </a:p>
          <a:p>
            <a:pPr lvl="0"/>
            <a:endParaRPr lang="en-US" altLang="zh-CN" sz="2400" dirty="0">
              <a:solidFill>
                <a:srgbClr val="E7E6E6"/>
              </a:solidFill>
            </a:endParaRPr>
          </a:p>
          <a:p>
            <a:pPr lvl="0"/>
            <a:r>
              <a:rPr lang="zh-CN" altLang="zh-CN" sz="2400" dirty="0">
                <a:solidFill>
                  <a:srgbClr val="E7E6E6"/>
                </a:solidFill>
              </a:rPr>
              <a:t>真实输入：Kaggle Titanic </a:t>
            </a:r>
            <a:r>
              <a:rPr lang="zh-CN" altLang="zh-CN" dirty="0">
                <a:solidFill>
                  <a:srgbClr val="E7E6E6"/>
                </a:solidFill>
              </a:rPr>
              <a:t>train.csv</a:t>
            </a:r>
            <a:r>
              <a:rPr lang="zh-CN" altLang="zh-CN" sz="2400" dirty="0">
                <a:solidFill>
                  <a:srgbClr val="E7E6E6"/>
                </a:solidFill>
              </a:rPr>
              <a:t>，891 行 </a:t>
            </a:r>
            <a:endParaRPr lang="en-US" altLang="zh-CN" sz="2400" dirty="0">
              <a:solidFill>
                <a:srgbClr val="E7E6E6"/>
              </a:solidFill>
            </a:endParaRPr>
          </a:p>
          <a:p>
            <a:pPr lvl="0"/>
            <a:endParaRPr lang="zh-CN" altLang="zh-CN" sz="2400" dirty="0">
              <a:solidFill>
                <a:srgbClr val="E7E6E6"/>
              </a:solidFill>
            </a:endParaRPr>
          </a:p>
          <a:p>
            <a:pPr lvl="0"/>
            <a:r>
              <a:rPr lang="zh-CN" altLang="zh-CN" sz="2400" dirty="0">
                <a:solidFill>
                  <a:srgbClr val="E7E6E6"/>
                </a:solidFill>
              </a:rPr>
              <a:t>边界：历史观察分析，不用于现代救援决策</a:t>
            </a:r>
          </a:p>
        </p:txBody>
      </p:sp>
      <p:sp>
        <p:nvSpPr>
          <p:cNvPr id="100003" name="CoverMeta"/>
          <p:cNvSpPr txBox="1"/>
          <p:nvPr/>
        </p:nvSpPr>
        <p:spPr>
          <a:xfrm>
            <a:off x="2952000" y="4572000"/>
            <a:ext cx="7200000" cy="36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endParaRPr lang="zh-CN" sz="1600" b="1" dirty="0">
              <a:solidFill>
                <a:srgbClr val="8DDDD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 lnSpcReduction="10000"/>
          </a:bodyPr>
          <a:lstStyle/>
          <a:p>
            <a:pPr algn="l"/>
            <a:r>
              <a:rPr lang="zh-CN" sz="1400" b="1" dirty="0">
                <a:solidFill>
                  <a:srgbClr val="028090"/>
                </a:solidFill>
                <a:latin typeface="Microsoft YaHei"/>
                <a:ea typeface="Microsoft YaHei"/>
              </a:rPr>
              <a:t>02 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altLang="en-US" sz="3800" b="1" dirty="0">
                <a:solidFill>
                  <a:srgbClr val="183B45"/>
                </a:solidFill>
                <a:latin typeface="Microsoft YaHei"/>
                <a:ea typeface="Microsoft YaHei"/>
              </a:rPr>
              <a:t>方法与基线</a:t>
            </a:r>
            <a:endParaRPr lang="zh-CN" sz="3800" b="1" dirty="0">
              <a:solidFill>
                <a:srgbClr val="183B45"/>
              </a:solidFill>
              <a:latin typeface="Microsoft YaHei"/>
              <a:ea typeface="Microsoft YaHei"/>
            </a:endParaRPr>
          </a:p>
        </p:txBody>
      </p:sp>
      <p:sp>
        <p:nvSpPr>
          <p:cNvPr id="100006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7" name="Input"/>
          <p:cNvSpPr/>
          <p:nvPr/>
        </p:nvSpPr>
        <p:spPr>
          <a:xfrm>
            <a:off x="539999" y="2159999"/>
            <a:ext cx="3048001" cy="2796313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基线：始终预测最常见类别</a:t>
            </a:r>
            <a:endParaRPr lang="zh-CN" sz="2200" b="1" dirty="0">
              <a:solidFill>
                <a:srgbClr val="123A3A"/>
              </a:solidFill>
              <a:latin typeface="Microsoft YaHei"/>
              <a:ea typeface="Microsoft YaHei"/>
            </a:endParaRPr>
          </a:p>
        </p:txBody>
      </p:sp>
      <p:sp>
        <p:nvSpPr>
          <p:cNvPr id="100008" name="Baseline"/>
          <p:cNvSpPr/>
          <p:nvPr/>
        </p:nvSpPr>
        <p:spPr>
          <a:xfrm>
            <a:off x="4572000" y="2160000"/>
            <a:ext cx="2988000" cy="2796312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候选：原有预处理后的随机森林，</a:t>
            </a:r>
            <a:r>
              <a:rPr lang="zh-CN" altLang="zh-CN" dirty="0"/>
              <a:t>random_state=42</a:t>
            </a:r>
            <a:endParaRPr lang="zh-CN" sz="2200" b="1" dirty="0">
              <a:solidFill>
                <a:srgbClr val="173F5F"/>
              </a:solidFill>
              <a:latin typeface="Microsoft YaHei"/>
              <a:ea typeface="Microsoft YaHei"/>
            </a:endParaRPr>
          </a:p>
        </p:txBody>
      </p:sp>
      <p:sp>
        <p:nvSpPr>
          <p:cNvPr id="100009" name="Candidate"/>
          <p:cNvSpPr/>
          <p:nvPr/>
        </p:nvSpPr>
        <p:spPr>
          <a:xfrm>
            <a:off x="8603999" y="2160000"/>
            <a:ext cx="3048001" cy="2796312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公平条件：同一真实数据、同一固定留出测试集、同一指标</a:t>
            </a:r>
            <a:endParaRPr lang="zh-CN" sz="2200" b="1" dirty="0">
              <a:solidFill>
                <a:srgbClr val="6B3E16"/>
              </a:solidFill>
              <a:latin typeface="Microsoft YaHei"/>
              <a:ea typeface="Microsoft YaHei"/>
            </a:endParaRPr>
          </a:p>
        </p:txBody>
      </p:sp>
      <p:sp>
        <p:nvSpPr>
          <p:cNvPr id="100010" name="MethodPrompt"/>
          <p:cNvSpPr txBox="1"/>
          <p:nvPr/>
        </p:nvSpPr>
        <p:spPr>
          <a:xfrm>
            <a:off x="1080000" y="4680000"/>
            <a:ext cx="10008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endParaRPr lang="zh-CN" sz="2000" b="0" dirty="0">
              <a:solidFill>
                <a:srgbClr val="39545B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Kicker"/>
          <p:cNvSpPr txBox="1"/>
          <p:nvPr/>
        </p:nvSpPr>
        <p:spPr>
          <a:xfrm>
            <a:off x="540000" y="252000"/>
            <a:ext cx="5400000" cy="288000"/>
          </a:xfrm>
          <a:prstGeom prst="rect">
            <a:avLst/>
          </a:prstGeom>
        </p:spPr>
        <p:txBody>
          <a:bodyPr lIns="43200" tIns="43200" rIns="43200" bIns="43200" anchor="ctr">
            <a:normAutofit lnSpcReduction="10000"/>
          </a:bodyPr>
          <a:lstStyle/>
          <a:p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03 · 约 60 秒</a:t>
            </a:r>
          </a:p>
        </p:txBody>
      </p:sp>
      <p:sp>
        <p:nvSpPr>
          <p:cNvPr id="100012" name="Title"/>
          <p:cNvSpPr txBox="1"/>
          <p:nvPr/>
        </p:nvSpPr>
        <p:spPr>
          <a:xfrm>
            <a:off x="540000" y="558000"/>
            <a:ext cx="10980000" cy="756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一条最重要的证据</a:t>
            </a:r>
          </a:p>
        </p:txBody>
      </p:sp>
      <p:sp>
        <p:nvSpPr>
          <p:cNvPr id="100013" name="PageMark"/>
          <p:cNvSpPr/>
          <p:nvPr/>
        </p:nvSpPr>
        <p:spPr>
          <a:xfrm>
            <a:off x="11232000" y="252000"/>
            <a:ext cx="396000" cy="39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4" name="Metric"/>
          <p:cNvSpPr/>
          <p:nvPr/>
        </p:nvSpPr>
        <p:spPr>
          <a:xfrm>
            <a:off x="540000" y="1800000"/>
            <a:ext cx="5224696" cy="3805670"/>
          </a:xfrm>
          <a:prstGeom prst="roundRect">
            <a:avLst/>
          </a:prstGeom>
          <a:solidFill>
            <a:srgbClr val="183B45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F1</a:t>
            </a:r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（幸存者）：基线 </a:t>
            </a:r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0 → </a:t>
            </a:r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候选 </a:t>
            </a:r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0.655</a:t>
            </a:r>
          </a:p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召回率：基线 </a:t>
            </a:r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0 → </a:t>
            </a:r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候选 </a:t>
            </a:r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0.628</a:t>
            </a:r>
          </a:p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范围：同一留出测试集，</a:t>
            </a:r>
            <a:r>
              <a:rPr lang="en-US" alt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223 </a:t>
            </a:r>
            <a:r>
              <a:rPr lang="zh-CN" altLang="en-US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条记录</a:t>
            </a:r>
            <a:endParaRPr lang="zh-CN" sz="24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0015" name="Case"/>
          <p:cNvSpPr/>
          <p:nvPr/>
        </p:nvSpPr>
        <p:spPr>
          <a:xfrm>
            <a:off x="6156000" y="1800000"/>
            <a:ext cx="5496000" cy="380567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en-US" altLang="zh-CN" sz="2200" b="1" dirty="0" err="1">
                <a:solidFill>
                  <a:srgbClr val="083B35"/>
                </a:solidFill>
                <a:latin typeface="Microsoft YaHei"/>
                <a:ea typeface="Microsoft YaHei"/>
              </a:rPr>
              <a:t>source_row</a:t>
            </a:r>
            <a:r>
              <a:rPr lang="en-US" altLang="zh-CN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 347</a:t>
            </a:r>
          </a:p>
          <a:p>
            <a:pPr algn="ctr"/>
            <a:r>
              <a:rPr lang="zh-CN" altLang="en-US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真实幸存：</a:t>
            </a:r>
            <a:r>
              <a:rPr lang="en-US" altLang="zh-CN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1</a:t>
            </a:r>
            <a:r>
              <a:rPr lang="zh-CN" altLang="en-US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；预测未幸存：</a:t>
            </a:r>
            <a:r>
              <a:rPr lang="en-US" altLang="zh-CN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0</a:t>
            </a:r>
          </a:p>
          <a:p>
            <a:pPr algn="ctr"/>
            <a:r>
              <a:rPr lang="zh-CN" altLang="en-US" sz="2200" b="1" dirty="0">
                <a:solidFill>
                  <a:srgbClr val="083B35"/>
                </a:solidFill>
                <a:latin typeface="Microsoft YaHei"/>
                <a:ea typeface="Microsoft YaHei"/>
              </a:rPr>
              <a:t>这是一条假阴性</a:t>
            </a:r>
            <a:endParaRPr lang="zh-CN" sz="2200" b="1" dirty="0">
              <a:solidFill>
                <a:srgbClr val="083B35"/>
              </a:solidFill>
              <a:latin typeface="Microsoft YaHei"/>
              <a:ea typeface="Microsoft YaHei"/>
            </a:endParaRPr>
          </a:p>
        </p:txBody>
      </p:sp>
      <p:sp>
        <p:nvSpPr>
          <p:cNvPr id="100016" name="EvidencePrompt"/>
          <p:cNvSpPr txBox="1"/>
          <p:nvPr/>
        </p:nvSpPr>
        <p:spPr>
          <a:xfrm>
            <a:off x="792000" y="4680000"/>
            <a:ext cx="10584000" cy="54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endParaRPr lang="zh-CN" sz="2000" b="0" dirty="0">
              <a:solidFill>
                <a:srgbClr val="39545B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" name="EndTitle"/>
          <p:cNvSpPr txBox="1"/>
          <p:nvPr/>
        </p:nvSpPr>
        <p:spPr>
          <a:xfrm>
            <a:off x="540000" y="504000"/>
            <a:ext cx="10800000" cy="720000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l"/>
            <a:r>
              <a:rPr lang="zh-CN" sz="3800" b="1">
                <a:solidFill>
                  <a:srgbClr val="FFFFFF"/>
                </a:solidFill>
                <a:latin typeface="Microsoft YaHei"/>
                <a:ea typeface="Microsoft YaHei"/>
              </a:rPr>
              <a:t>失败、限制与下一问题</a:t>
            </a:r>
          </a:p>
        </p:txBody>
      </p:sp>
      <p:sp>
        <p:nvSpPr>
          <p:cNvPr id="100018" name="Failure"/>
          <p:cNvSpPr/>
          <p:nvPr/>
        </p:nvSpPr>
        <p:spPr>
          <a:xfrm>
            <a:off x="540000" y="1799999"/>
            <a:ext cx="3444001" cy="2679235"/>
          </a:xfrm>
          <a:prstGeom prst="roundRect">
            <a:avLst/>
          </a:prstGeom>
          <a:solidFill>
            <a:srgbClr val="FBE4C8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失败：候选仍有 32 个假阴性，</a:t>
            </a:r>
            <a:r>
              <a:rPr lang="zh-CN" altLang="zh-CN" dirty="0"/>
              <a:t>source_row 347</a:t>
            </a:r>
            <a:r>
              <a:rPr lang="zh-CN" altLang="zh-CN" sz="2400" dirty="0"/>
              <a:t> 是其中一例。</a:t>
            </a:r>
            <a:endParaRPr lang="zh-CN" sz="2100" b="1" dirty="0">
              <a:solidFill>
                <a:srgbClr val="6B3E16"/>
              </a:solidFill>
              <a:latin typeface="Microsoft YaHei"/>
              <a:ea typeface="Microsoft YaHei"/>
            </a:endParaRPr>
          </a:p>
        </p:txBody>
      </p:sp>
      <p:sp>
        <p:nvSpPr>
          <p:cNvPr id="100019" name="Limit"/>
          <p:cNvSpPr/>
          <p:nvPr/>
        </p:nvSpPr>
        <p:spPr>
          <a:xfrm>
            <a:off x="4374000" y="1800000"/>
            <a:ext cx="3444001" cy="2679234"/>
          </a:xfrm>
          <a:prstGeom prst="roundRect">
            <a:avLst/>
          </a:prstGeom>
          <a:solidFill>
            <a:srgbClr val="D7F4EE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限制：年龄和登船港存在缺失；不能推断因果。</a:t>
            </a:r>
            <a:endParaRPr lang="zh-CN" sz="2100" b="1" dirty="0">
              <a:solidFill>
                <a:srgbClr val="123A3A"/>
              </a:solidFill>
              <a:latin typeface="Microsoft YaHei"/>
              <a:ea typeface="Microsoft YaHei"/>
            </a:endParaRPr>
          </a:p>
        </p:txBody>
      </p:sp>
      <p:sp>
        <p:nvSpPr>
          <p:cNvPr id="100020" name="Next"/>
          <p:cNvSpPr/>
          <p:nvPr/>
        </p:nvSpPr>
        <p:spPr>
          <a:xfrm>
            <a:off x="8207999" y="1800000"/>
            <a:ext cx="3586435" cy="2679234"/>
          </a:xfrm>
          <a:prstGeom prst="roundRect">
            <a:avLst/>
          </a:prstGeom>
          <a:solidFill>
            <a:srgbClr val="C9E8F2"/>
          </a:solidFill>
          <a:ln>
            <a:noFill/>
          </a:ln>
        </p:spPr>
        <p:txBody>
          <a:bodyPr lIns="90000" tIns="90000" rIns="90000" bIns="90000" anchor="ctr">
            <a:normAutofit/>
          </a:bodyPr>
          <a:lstStyle/>
          <a:p>
            <a:pPr algn="ctr"/>
            <a:r>
              <a:rPr lang="zh-CN" altLang="zh-CN" sz="2400" dirty="0"/>
              <a:t>下一问题：查看更多假阴性，再检查是否存在稳定模式。</a:t>
            </a:r>
            <a:endParaRPr lang="zh-CN" sz="2100" b="1" dirty="0">
              <a:solidFill>
                <a:srgbClr val="173F5F"/>
              </a:solidFill>
              <a:latin typeface="Microsoft YaHei"/>
              <a:ea typeface="Microsoft YaHei"/>
            </a:endParaRPr>
          </a:p>
        </p:txBody>
      </p:sp>
      <p:sp>
        <p:nvSpPr>
          <p:cNvPr id="100021" name="EndMeta"/>
          <p:cNvSpPr txBox="1"/>
          <p:nvPr/>
        </p:nvSpPr>
        <p:spPr>
          <a:xfrm>
            <a:off x="720000" y="4680000"/>
            <a:ext cx="10800000" cy="1124452"/>
          </a:xfrm>
          <a:prstGeom prst="rect">
            <a:avLst/>
          </a:prstGeom>
        </p:spPr>
        <p:txBody>
          <a:bodyPr lIns="43200" tIns="43200" rIns="43200" bIns="43200" anchor="ctr">
            <a:normAutofit/>
          </a:bodyPr>
          <a:lstStyle/>
          <a:p>
            <a:pPr algn="ctr"/>
            <a:r>
              <a:rPr lang="zh-CN" altLang="zh-CN" sz="2000" dirty="0">
                <a:solidFill>
                  <a:srgbClr val="FFFFFF"/>
                </a:solidFill>
              </a:rPr>
              <a:t>不用于现代救援或高风险决策。</a:t>
            </a:r>
            <a:endParaRPr lang="zh-CN" sz="19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522F2AB7D8F7FF7586CE5DF716D213254AA183499B24DFEBCAF21BA9A9CB65AB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E7E6E6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510</Words>
  <Application>Microsoft Office PowerPoint</Application>
  <PresentationFormat>宽屏</PresentationFormat>
  <Paragraphs>31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zerun liu</cp:lastModifiedBy>
  <cp:revision>3</cp:revision>
  <dcterms:created xsi:type="dcterms:W3CDTF">2026-08-11T15:34:49Z</dcterms:created>
  <dcterms:modified xsi:type="dcterms:W3CDTF">2026-08-17T08:03:04Z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2026-08-11T15:35:06Z</vt:lpwstr>
  </property>
</Properties>
</file>